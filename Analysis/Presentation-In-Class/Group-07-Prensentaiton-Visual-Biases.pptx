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61" r:id="rId3"/>
    <p:sldId id="263" r:id="rId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58"/>
  </p:normalViewPr>
  <p:slideViewPr>
    <p:cSldViewPr snapToGrid="0">
      <p:cViewPr varScale="1">
        <p:scale>
          <a:sx n="120" d="100"/>
          <a:sy n="120" d="100"/>
        </p:scale>
        <p:origin x="80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89213" y="2514600"/>
            <a:ext cx="8915399" cy="2262781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89213" y="4777379"/>
            <a:ext cx="8915399" cy="1126283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3/19/25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Freeform 6"/>
          <p:cNvSpPr/>
          <p:nvPr/>
        </p:nvSpPr>
        <p:spPr bwMode="auto">
          <a:xfrm>
            <a:off x="0" y="4323810"/>
            <a:ext cx="1744652" cy="778589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4529540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128089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89212" y="2133600"/>
            <a:ext cx="8915400" cy="37776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3/19/25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2058750"/>
            <a:ext cx="8915399" cy="146880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3530129"/>
            <a:ext cx="8915399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3/19/25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89212" y="2133600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190747" y="2126222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3/19/25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39373" y="1972703"/>
            <a:ext cx="399273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89212" y="2548966"/>
            <a:ext cx="4342893" cy="335406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506629" y="1969475"/>
            <a:ext cx="399900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166957" y="2545738"/>
            <a:ext cx="4338674" cy="335406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3/19/25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2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3/19/25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3/19/25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446088"/>
            <a:ext cx="3505199" cy="976312"/>
          </a:xfrm>
        </p:spPr>
        <p:txBody>
          <a:bodyPr anchor="b"/>
          <a:lstStyle>
            <a:lvl1pPr algn="l">
              <a:defRPr sz="20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23012" y="446088"/>
            <a:ext cx="5181600" cy="5414963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2" y="1598613"/>
            <a:ext cx="3505199" cy="426243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3/19/25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4800600"/>
            <a:ext cx="89154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589212" y="634965"/>
            <a:ext cx="8915400" cy="385497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367338"/>
            <a:ext cx="8915400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3/19/25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09600"/>
            <a:ext cx="8915399" cy="311704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3/19/25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3275012" y="3505200"/>
            <a:ext cx="753655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3/19/25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14" name="TextBox 13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2438400"/>
            <a:ext cx="8915400" cy="2724845"/>
          </a:xfrm>
        </p:spPr>
        <p:txBody>
          <a:bodyPr anchor="b">
            <a:normAutofit/>
          </a:bodyPr>
          <a:lstStyle>
            <a:lvl1pPr algn="l">
              <a:defRPr sz="4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3/19/25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3/19/25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17" name="TextBox 16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27407"/>
            <a:ext cx="8915399" cy="2880020"/>
          </a:xfrm>
        </p:spPr>
        <p:txBody>
          <a:bodyPr anchor="ctr">
            <a:normAutofit/>
          </a:bodyPr>
          <a:lstStyle>
            <a:lvl1pPr algn="l">
              <a:defRPr sz="4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3/19/25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3/19/25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94812" y="627405"/>
            <a:ext cx="2207601" cy="5283817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89212" y="627405"/>
            <a:ext cx="6477000" cy="528381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3/19/25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/>
          <p:cNvGrpSpPr/>
          <p:nvPr/>
        </p:nvGrpSpPr>
        <p:grpSpPr>
          <a:xfrm>
            <a:off x="1" y="228600"/>
            <a:ext cx="2851516" cy="6638628"/>
            <a:chOff x="2487613" y="285750"/>
            <a:chExt cx="2428875" cy="5654676"/>
          </a:xfrm>
        </p:grpSpPr>
        <p:sp>
          <p:nvSpPr>
            <p:cNvPr id="24" name="Freeform 11"/>
            <p:cNvSpPr/>
            <p:nvPr/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5" name="Freeform 12"/>
            <p:cNvSpPr/>
            <p:nvPr/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6" name="Freeform 13"/>
            <p:cNvSpPr/>
            <p:nvPr/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7" name="Freeform 14"/>
            <p:cNvSpPr/>
            <p:nvPr/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8" name="Freeform 15"/>
            <p:cNvSpPr/>
            <p:nvPr/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29" name="Freeform 16"/>
            <p:cNvSpPr/>
            <p:nvPr/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0" name="Freeform 17"/>
            <p:cNvSpPr/>
            <p:nvPr/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1" name="Freeform 18"/>
            <p:cNvSpPr/>
            <p:nvPr/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2" name="Freeform 19"/>
            <p:cNvSpPr/>
            <p:nvPr/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3" name="Freeform 20"/>
            <p:cNvSpPr/>
            <p:nvPr/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4" name="Freeform 21"/>
            <p:cNvSpPr/>
            <p:nvPr/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  <p:sp>
          <p:nvSpPr>
            <p:cNvPr id="35" name="Freeform 22"/>
            <p:cNvSpPr/>
            <p:nvPr/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</p:sp>
      </p:grpSp>
      <p:grpSp>
        <p:nvGrpSpPr>
          <p:cNvPr id="10" name="Group 9"/>
          <p:cNvGrpSpPr/>
          <p:nvPr/>
        </p:nvGrpSpPr>
        <p:grpSpPr>
          <a:xfrm>
            <a:off x="27221" y="-786"/>
            <a:ext cx="2356674" cy="6854039"/>
            <a:chOff x="6627813" y="194833"/>
            <a:chExt cx="1952625" cy="5678918"/>
          </a:xfrm>
        </p:grpSpPr>
        <p:sp>
          <p:nvSpPr>
            <p:cNvPr id="11" name="Freeform 27"/>
            <p:cNvSpPr/>
            <p:nvPr/>
          </p:nvSpPr>
          <p:spPr bwMode="auto">
            <a:xfrm>
              <a:off x="6627813" y="194833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2" name="Freeform 28"/>
            <p:cNvSpPr/>
            <p:nvPr/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3" name="Freeform 29"/>
            <p:cNvSpPr/>
            <p:nvPr/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4" name="Freeform 30"/>
            <p:cNvSpPr/>
            <p:nvPr/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5" name="Freeform 31"/>
            <p:cNvSpPr/>
            <p:nvPr/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6" name="Freeform 32"/>
            <p:cNvSpPr/>
            <p:nvPr/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7" name="Freeform 33"/>
            <p:cNvSpPr/>
            <p:nvPr/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8" name="Freeform 34"/>
            <p:cNvSpPr/>
            <p:nvPr/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19" name="Freeform 35"/>
            <p:cNvSpPr/>
            <p:nvPr/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0" name="Freeform 36"/>
            <p:cNvSpPr/>
            <p:nvPr/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1" name="Freeform 37"/>
            <p:cNvSpPr/>
            <p:nvPr/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  <p:sp>
          <p:nvSpPr>
            <p:cNvPr id="22" name="Freeform 38"/>
            <p:cNvSpPr/>
            <p:nvPr/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</p:sp>
      </p:grpSp>
      <p:sp>
        <p:nvSpPr>
          <p:cNvPr id="7" name="Rectangle 6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92924" y="624110"/>
            <a:ext cx="8911687" cy="12808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2133600"/>
            <a:ext cx="8915400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361612" y="6130437"/>
            <a:ext cx="1146283" cy="3703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3/19/25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89212" y="6135808"/>
            <a:ext cx="7619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531812" y="787782"/>
            <a:ext cx="7797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>
                <a:solidFill>
                  <a:srgbClr val="FEFFFF"/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60" r:id="rId10"/>
    <p:sldLayoutId id="2147483661" r:id="rId11"/>
    <p:sldLayoutId id="2147483662" r:id="rId12"/>
    <p:sldLayoutId id="2147483663" r:id="rId13"/>
    <p:sldLayoutId id="2147483664" r:id="rId14"/>
    <p:sldLayoutId id="2147483658" r:id="rId15"/>
    <p:sldLayoutId id="2147483659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2F59A2-A26E-E0F5-9C51-64A15E3E001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Housing Biases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1313922-03E1-122B-0EDB-3A7A6940275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Group 7 – DATA-6550</a:t>
            </a:r>
          </a:p>
        </p:txBody>
      </p:sp>
      <p:pic>
        <p:nvPicPr>
          <p:cNvPr id="6" name="Picture 5" descr="A map of a state&#10;&#10;AI-generated content may be incorrect.">
            <a:extLst>
              <a:ext uri="{FF2B5EF4-FFF2-40B4-BE49-F238E27FC236}">
                <a16:creationId xmlns:a16="http://schemas.microsoft.com/office/drawing/2014/main" id="{316E7032-3AB0-7EBD-782E-DE1A66C9BD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46541" y="1179839"/>
            <a:ext cx="4345459" cy="4723823"/>
          </a:xfrm>
          <a:prstGeom prst="rect">
            <a:avLst/>
          </a:prstGeom>
          <a:ln w="19050">
            <a:solidFill>
              <a:schemeClr val="accent1"/>
            </a:solidFill>
          </a:ln>
        </p:spPr>
      </p:pic>
    </p:spTree>
    <p:extLst>
      <p:ext uri="{BB962C8B-B14F-4D97-AF65-F5344CB8AC3E}">
        <p14:creationId xmlns:p14="http://schemas.microsoft.com/office/powerpoint/2010/main" val="15913204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D9643C-2E59-1064-A32D-601D89215A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  <a:br>
              <a:rPr lang="en-US" dirty="0"/>
            </a:br>
            <a:r>
              <a:rPr lang="en-US" b="1" dirty="0"/>
              <a:t>Embarkment vs. Survival Rate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568F8DD-702C-A81B-9B64-DFFFED0D92C7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Housing discrimination has played a major role in shaping economic and social inequalities!</a:t>
            </a:r>
          </a:p>
          <a:p>
            <a:r>
              <a:rPr lang="en-US" dirty="0"/>
              <a:t>Algorithm decision-making has replaced human judgment in many financial processes!</a:t>
            </a:r>
          </a:p>
          <a:p>
            <a:r>
              <a:rPr lang="en-US"/>
              <a:t>Project </a:t>
            </a:r>
            <a:r>
              <a:rPr lang="en-US" dirty="0"/>
              <a:t>focuses on Hennepin County</a:t>
            </a:r>
            <a:r>
              <a:rPr lang="en-US"/>
              <a:t>, Minnesota.</a:t>
            </a:r>
            <a:endParaRPr lang="en-US" dirty="0"/>
          </a:p>
        </p:txBody>
      </p:sp>
      <p:pic>
        <p:nvPicPr>
          <p:cNvPr id="8" name="Content Placeholder 7" descr="A graph of different colored squares&#10;&#10;AI-generated content may be incorrect.">
            <a:extLst>
              <a:ext uri="{FF2B5EF4-FFF2-40B4-BE49-F238E27FC236}">
                <a16:creationId xmlns:a16="http://schemas.microsoft.com/office/drawing/2014/main" id="{ADFD5F90-51E4-6B82-A9F3-126590E3BFE1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2589213" y="2885025"/>
            <a:ext cx="4313237" cy="2275399"/>
          </a:xfrm>
        </p:spPr>
      </p:pic>
    </p:spTree>
    <p:extLst>
      <p:ext uri="{BB962C8B-B14F-4D97-AF65-F5344CB8AC3E}">
        <p14:creationId xmlns:p14="http://schemas.microsoft.com/office/powerpoint/2010/main" val="37208018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7960FF-2141-5FF8-219F-0EA6D7FF19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Thank you - Questions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58217FD-61E9-1CF0-7487-854C4E06094D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n-US" dirty="0"/>
              <a:t>Group 7 – DATA-6550</a:t>
            </a:r>
          </a:p>
        </p:txBody>
      </p:sp>
    </p:spTree>
    <p:extLst>
      <p:ext uri="{BB962C8B-B14F-4D97-AF65-F5344CB8AC3E}">
        <p14:creationId xmlns:p14="http://schemas.microsoft.com/office/powerpoint/2010/main" val="3091323689"/>
      </p:ext>
    </p:extLst>
  </p:cSld>
  <p:clrMapOvr>
    <a:masterClrMapping/>
  </p:clrMapOvr>
</p:sld>
</file>

<file path=ppt/theme/theme1.xml><?xml version="1.0" encoding="utf-8"?>
<a:theme xmlns:a="http://schemas.openxmlformats.org/drawingml/2006/main" name="Wisp">
  <a:themeElements>
    <a:clrScheme name="Wisp">
      <a:dk1>
        <a:sysClr val="windowText" lastClr="000000"/>
      </a:dk1>
      <a:lt1>
        <a:sysClr val="window" lastClr="FFFFFF"/>
      </a:lt1>
      <a:dk2>
        <a:srgbClr val="766F54"/>
      </a:dk2>
      <a:lt2>
        <a:srgbClr val="E3EACF"/>
      </a:lt2>
      <a:accent1>
        <a:srgbClr val="A53010"/>
      </a:accent1>
      <a:accent2>
        <a:srgbClr val="DE7E18"/>
      </a:accent2>
      <a:accent3>
        <a:srgbClr val="9F8351"/>
      </a:accent3>
      <a:accent4>
        <a:srgbClr val="728653"/>
      </a:accent4>
      <a:accent5>
        <a:srgbClr val="92AA4C"/>
      </a:accent5>
      <a:accent6>
        <a:srgbClr val="6AAC91"/>
      </a:accent6>
      <a:hlink>
        <a:srgbClr val="FB4A18"/>
      </a:hlink>
      <a:folHlink>
        <a:srgbClr val="FB9318"/>
      </a:folHlink>
    </a:clrScheme>
    <a:fontScheme name="Wisp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Wisp">
      <a:fillStyleLst>
        <a:solidFill>
          <a:schemeClr val="phClr"/>
        </a:solidFill>
        <a:solidFill>
          <a:schemeClr val="phClr">
            <a:tint val="70000"/>
            <a:lumMod val="104000"/>
          </a:schemeClr>
        </a:soli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8000"/>
                <a:lumMod val="9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2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satMod val="92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isp" id="{7CB32D59-10C0-40DD-B7BD-2E94284A981C}" vid="{24B1A44C-C006-48B2-A4D7-E5549B3D8CD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Wisp</Template>
  <TotalTime>26</TotalTime>
  <Words>54</Words>
  <Application>Microsoft Macintosh PowerPoint</Application>
  <PresentationFormat>Widescreen</PresentationFormat>
  <Paragraphs>8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Arial</vt:lpstr>
      <vt:lpstr>Century Gothic</vt:lpstr>
      <vt:lpstr>Wingdings 3</vt:lpstr>
      <vt:lpstr>Wisp</vt:lpstr>
      <vt:lpstr>Housing Biases</vt:lpstr>
      <vt:lpstr>Introduction Embarkment vs. Survival Rate</vt:lpstr>
      <vt:lpstr>Thank you - Questions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Richard Hoehn</dc:creator>
  <cp:lastModifiedBy>Richard Hoehn</cp:lastModifiedBy>
  <cp:revision>4</cp:revision>
  <dcterms:created xsi:type="dcterms:W3CDTF">2025-02-27T14:27:20Z</dcterms:created>
  <dcterms:modified xsi:type="dcterms:W3CDTF">2025-03-20T03:38:25Z</dcterms:modified>
</cp:coreProperties>
</file>